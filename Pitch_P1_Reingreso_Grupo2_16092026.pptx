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jwjwkQQhm+3etHms0XgfdPkUSJ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Daniel · 30 seg. Presentación del equipo y del problema en una frase. Pausa de 3 segundos al terminar.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Transición de Daniel. 20 segundos.</a:t>
            </a:r>
            <a:endParaRPr/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Daniel. El 11,16 % está verificado sobre el parquet. Si preguntan por el costo por reingreso en Perú, responder que es el dato que estamos gestionando y que la cifra se declarará con fuente citable en P2.</a:t>
            </a:r>
            <a:endParaRPr/>
          </a:p>
        </p:txBody>
      </p:sp>
      <p:sp>
        <p:nvSpPr>
          <p:cNvPr id="69" name="Google Shape;6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Daniel. Señalar cada cuadro al nombrarlo. Cierra con la transición a Eduardo.</a:t>
            </a:r>
            <a:endParaRPr/>
          </a:p>
        </p:txBody>
      </p:sp>
      <p:sp>
        <p:nvSpPr>
          <p:cNvPr id="95" name="Google Shape;9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Transición Daniel → Eduardo: «Cuantificamos el problema. Eduardo muestra el mercado».</a:t>
            </a:r>
            <a:endParaRPr/>
          </a:p>
        </p:txBody>
      </p:sp>
      <p:sp>
        <p:nvSpPr>
          <p:cNvPr id="120" name="Google Shape;12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Eduardo. Si preguntan por el ROI, ser directo: tenemos la estructura del modelo financiero pero no la cifra de costo con fuente. Prometerla para P2 en octubre.</a:t>
            </a:r>
            <a:endParaRPr/>
          </a:p>
        </p:txBody>
      </p:sp>
      <p:sp>
        <p:nvSpPr>
          <p:cNvPr id="134" name="Google Shape;13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Eduardo. Si hay mockup de la plataforma, insertarlo aquí a pantalla completa y pausar 3 segundos. Cierra con la transición a Kevin.</a:t>
            </a:r>
            <a:endParaRPr/>
          </a:p>
        </p:txBody>
      </p:sp>
      <p:sp>
        <p:nvSpPr>
          <p:cNvPr id="159" name="Google Shape;15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Transición Eduardo → Kevin: «Kevin explica cómo vamos a validar que funciona».</a:t>
            </a:r>
            <a:endParaRPr/>
          </a:p>
        </p:txBody>
      </p:sp>
      <p:sp>
        <p:nvSpPr>
          <p:cNvPr id="195" name="Google Shape;19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Kevin. Ojo: 8,56 % y 31,24 % son TASAS DE REINGRESO por grupo, no valores de Recall@K. Es lo que justifica el baseline B2, no un resultado del modelo. Todavía no hay modelo entrenado: eso es P2, en octubre. Si preguntan por AUC, responder que no se reporta ninguna métrica antes de entrenar.</a:t>
            </a:r>
            <a:endParaRPr/>
          </a:p>
        </p:txBody>
      </p:sp>
      <p:sp>
        <p:nvSpPr>
          <p:cNvPr id="209" name="Google Shape;20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Kevin. La consulta clínica fue el 4 de septiembre y está documentada como evidencia E-01. No prometer mentores ni convenios que todavía no existan.</a:t>
            </a:r>
            <a:endParaRPr/>
          </a:p>
        </p:txBody>
      </p:sp>
      <p:sp>
        <p:nvSpPr>
          <p:cNvPr id="240" name="Google Shape;24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fb7e1849ab_7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fb7e1849ab_7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3fb7e1849ab_7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gif"/><Relationship Id="rId4" Type="http://schemas.openxmlformats.org/officeDocument/2006/relationships/image" Target="../media/image8.jpg"/><Relationship Id="rId5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 txBox="1"/>
          <p:nvPr/>
        </p:nvSpPr>
        <p:spPr>
          <a:xfrm>
            <a:off x="365760" y="109728"/>
            <a:ext cx="5120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Reingreso hospitalario evitable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5486400" y="109728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Grupo 2 · UTEC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" name="Google Shape;18;p1"/>
          <p:cNvCxnSpPr/>
          <p:nvPr/>
        </p:nvCxnSpPr>
        <p:spPr>
          <a:xfrm>
            <a:off x="365760" y="347472"/>
            <a:ext cx="8412480" cy="0"/>
          </a:xfrm>
          <a:prstGeom prst="straightConnector1">
            <a:avLst/>
          </a:prstGeom>
          <a:noFill/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1"/>
          <p:cNvCxnSpPr/>
          <p:nvPr/>
        </p:nvCxnSpPr>
        <p:spPr>
          <a:xfrm>
            <a:off x="365760" y="4828032"/>
            <a:ext cx="8412480" cy="0"/>
          </a:xfrm>
          <a:prstGeom prst="straightConnector1">
            <a:avLst/>
          </a:prstGeom>
          <a:noFill/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1"/>
          <p:cNvSpPr txBox="1"/>
          <p:nvPr/>
        </p:nvSpPr>
        <p:spPr>
          <a:xfrm>
            <a:off x="365760" y="1051560"/>
            <a:ext cx="47548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El impacto silencioso de los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reingresos hospitalarios evitables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65760" y="2743200"/>
            <a:ext cx="4297680" cy="457200"/>
          </a:xfrm>
          <a:prstGeom prst="rect">
            <a:avLst/>
          </a:prstGeom>
          <a:solidFill>
            <a:srgbClr val="FFAB40"/>
          </a:solidFill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 txBox="1"/>
          <p:nvPr/>
        </p:nvSpPr>
        <p:spPr>
          <a:xfrm>
            <a:off x="365760" y="274320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Predicción de riesgo de reingreso </a:t>
            </a:r>
            <a:r>
              <a:rPr b="1" lang="en-US" sz="1100">
                <a:solidFill>
                  <a:srgbClr val="212121"/>
                </a:solidFill>
              </a:rPr>
              <a:t>previo a los</a:t>
            </a:r>
            <a:r>
              <a:rPr b="1" i="0" lang="en-US" sz="11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30 días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 txBox="1"/>
          <p:nvPr/>
        </p:nvSpPr>
        <p:spPr>
          <a:xfrm>
            <a:off x="365760" y="3429000"/>
            <a:ext cx="4663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Grupo 2 · Proyecto Integrador I · UTEC Posgrado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 txBox="1"/>
          <p:nvPr/>
        </p:nvSpPr>
        <p:spPr>
          <a:xfrm>
            <a:off x="365760" y="3703320"/>
            <a:ext cx="4663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Daniel Alarcón  ·  Eduardo Vergaray  ·  Kevin Luyo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 txBox="1"/>
          <p:nvPr/>
        </p:nvSpPr>
        <p:spPr>
          <a:xfrm>
            <a:off x="365760" y="3977640"/>
            <a:ext cx="4663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1000"/>
              <a:buFont typeface="Arial"/>
              <a:buNone/>
            </a:pPr>
            <a:r>
              <a:rPr lang="en-US" sz="1000">
                <a:solidFill>
                  <a:schemeClr val="lt1"/>
                </a:solidFill>
              </a:rPr>
              <a:t>S</a:t>
            </a: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eptiembre de 2026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 txBox="1"/>
          <p:nvPr/>
        </p:nvSpPr>
        <p:spPr>
          <a:xfrm>
            <a:off x="365760" y="109728"/>
            <a:ext cx="5120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Reingreso hospitalario evitable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 txBox="1"/>
          <p:nvPr/>
        </p:nvSpPr>
        <p:spPr>
          <a:xfrm>
            <a:off x="5486400" y="109728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Grupo 2 · UTEC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" name="Google Shape;33;p2"/>
          <p:cNvCxnSpPr/>
          <p:nvPr/>
        </p:nvCxnSpPr>
        <p:spPr>
          <a:xfrm>
            <a:off x="365760" y="347472"/>
            <a:ext cx="8412480" cy="0"/>
          </a:xfrm>
          <a:prstGeom prst="straightConnector1">
            <a:avLst/>
          </a:prstGeom>
          <a:noFill/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" name="Google Shape;34;p2"/>
          <p:cNvCxnSpPr/>
          <p:nvPr/>
        </p:nvCxnSpPr>
        <p:spPr>
          <a:xfrm>
            <a:off x="365760" y="4828032"/>
            <a:ext cx="8412480" cy="0"/>
          </a:xfrm>
          <a:prstGeom prst="straightConnector1">
            <a:avLst/>
          </a:prstGeom>
          <a:noFill/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" name="Google Shape;35;p2"/>
          <p:cNvSpPr txBox="1"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Contenido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 txBox="1"/>
          <p:nvPr/>
        </p:nvSpPr>
        <p:spPr>
          <a:xfrm>
            <a:off x="365760" y="1325880"/>
            <a:ext cx="822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AB40"/>
                </a:solidFill>
                <a:latin typeface="Arial"/>
                <a:ea typeface="Arial"/>
                <a:cs typeface="Arial"/>
                <a:sym typeface="Arial"/>
              </a:rPr>
              <a:t>01.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 txBox="1"/>
          <p:nvPr/>
        </p:nvSpPr>
        <p:spPr>
          <a:xfrm>
            <a:off x="1188720" y="137160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El problema y la solución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 txBox="1"/>
          <p:nvPr/>
        </p:nvSpPr>
        <p:spPr>
          <a:xfrm>
            <a:off x="1188720" y="1764792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Qué decisión sale mal hoy y qué proponemos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" name="Google Shape;39;p2"/>
          <p:cNvCxnSpPr/>
          <p:nvPr/>
        </p:nvCxnSpPr>
        <p:spPr>
          <a:xfrm>
            <a:off x="365760" y="2404872"/>
            <a:ext cx="4023360" cy="0"/>
          </a:xfrm>
          <a:prstGeom prst="straightConnector1">
            <a:avLst/>
          </a:prstGeom>
          <a:noFill/>
          <a:ln cap="flat" cmpd="sng" w="19050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2"/>
          <p:cNvSpPr txBox="1"/>
          <p:nvPr/>
        </p:nvSpPr>
        <p:spPr>
          <a:xfrm>
            <a:off x="4709160" y="1325880"/>
            <a:ext cx="822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AB40"/>
                </a:solidFill>
                <a:latin typeface="Arial"/>
                <a:ea typeface="Arial"/>
                <a:cs typeface="Arial"/>
                <a:sym typeface="Arial"/>
              </a:rPr>
              <a:t>02.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 txBox="1"/>
          <p:nvPr/>
        </p:nvSpPr>
        <p:spPr>
          <a:xfrm>
            <a:off x="5532120" y="137160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Mercado y producto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 txBox="1"/>
          <p:nvPr/>
        </p:nvSpPr>
        <p:spPr>
          <a:xfrm>
            <a:off x="5532120" y="1764792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Oportunidad en Perú y flujo operativo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" name="Google Shape;43;p2"/>
          <p:cNvCxnSpPr/>
          <p:nvPr/>
        </p:nvCxnSpPr>
        <p:spPr>
          <a:xfrm>
            <a:off x="4709160" y="2404872"/>
            <a:ext cx="4023360" cy="0"/>
          </a:xfrm>
          <a:prstGeom prst="straightConnector1">
            <a:avLst/>
          </a:prstGeom>
          <a:noFill/>
          <a:ln cap="flat" cmpd="sng" w="19050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2"/>
          <p:cNvSpPr txBox="1"/>
          <p:nvPr/>
        </p:nvSpPr>
        <p:spPr>
          <a:xfrm>
            <a:off x="365760" y="2926080"/>
            <a:ext cx="822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AB40"/>
                </a:solidFill>
                <a:latin typeface="Arial"/>
                <a:ea typeface="Arial"/>
                <a:cs typeface="Arial"/>
                <a:sym typeface="Arial"/>
              </a:rPr>
              <a:t>03.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 txBox="1"/>
          <p:nvPr/>
        </p:nvSpPr>
        <p:spPr>
          <a:xfrm>
            <a:off x="1188720" y="297180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Cómo mediremos el éxito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 txBox="1"/>
          <p:nvPr/>
        </p:nvSpPr>
        <p:spPr>
          <a:xfrm>
            <a:off x="1188720" y="3364992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Métrica, baselines y equipo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" name="Google Shape;47;p2"/>
          <p:cNvCxnSpPr/>
          <p:nvPr/>
        </p:nvCxnSpPr>
        <p:spPr>
          <a:xfrm>
            <a:off x="365760" y="4005072"/>
            <a:ext cx="4023360" cy="0"/>
          </a:xfrm>
          <a:prstGeom prst="straightConnector1">
            <a:avLst/>
          </a:prstGeom>
          <a:noFill/>
          <a:ln cap="flat" cmpd="sng" w="19050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2"/>
          <p:cNvSpPr txBox="1"/>
          <p:nvPr/>
        </p:nvSpPr>
        <p:spPr>
          <a:xfrm>
            <a:off x="4709160" y="2926080"/>
            <a:ext cx="822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AB40"/>
                </a:solidFill>
                <a:latin typeface="Arial"/>
                <a:ea typeface="Arial"/>
                <a:cs typeface="Arial"/>
                <a:sym typeface="Arial"/>
              </a:rPr>
              <a:t>04.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 txBox="1"/>
          <p:nvPr/>
        </p:nvSpPr>
        <p:spPr>
          <a:xfrm>
            <a:off x="5532120" y="297180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Viabilidad y hoja de ruta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 txBox="1"/>
          <p:nvPr/>
        </p:nvSpPr>
        <p:spPr>
          <a:xfrm>
            <a:off x="5532120" y="3364992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Qué entregamos y qué sigue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" name="Google Shape;51;p2"/>
          <p:cNvCxnSpPr/>
          <p:nvPr/>
        </p:nvCxnSpPr>
        <p:spPr>
          <a:xfrm>
            <a:off x="4709160" y="4005072"/>
            <a:ext cx="4023360" cy="0"/>
          </a:xfrm>
          <a:prstGeom prst="straightConnector1">
            <a:avLst/>
          </a:prstGeom>
          <a:noFill/>
          <a:ln cap="flat" cmpd="sng" w="19050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 txBox="1"/>
          <p:nvPr/>
        </p:nvSpPr>
        <p:spPr>
          <a:xfrm>
            <a:off x="365760" y="109728"/>
            <a:ext cx="5120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Reingreso hospitalario evitable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 txBox="1"/>
          <p:nvPr/>
        </p:nvSpPr>
        <p:spPr>
          <a:xfrm>
            <a:off x="5486400" y="109728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Grupo 2 · UTEC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" name="Google Shape;59;p3"/>
          <p:cNvCxnSpPr/>
          <p:nvPr/>
        </p:nvCxnSpPr>
        <p:spPr>
          <a:xfrm>
            <a:off x="365760" y="347472"/>
            <a:ext cx="8412480" cy="0"/>
          </a:xfrm>
          <a:prstGeom prst="straightConnector1">
            <a:avLst/>
          </a:prstGeom>
          <a:noFill/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3"/>
          <p:cNvCxnSpPr/>
          <p:nvPr/>
        </p:nvCxnSpPr>
        <p:spPr>
          <a:xfrm>
            <a:off x="365760" y="4828032"/>
            <a:ext cx="8412480" cy="0"/>
          </a:xfrm>
          <a:prstGeom prst="straightConnector1">
            <a:avLst/>
          </a:prstGeom>
          <a:noFill/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" name="Google Shape;61;p3"/>
          <p:cNvSpPr txBox="1"/>
          <p:nvPr/>
        </p:nvSpPr>
        <p:spPr>
          <a:xfrm>
            <a:off x="365760" y="1051560"/>
            <a:ext cx="4206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5200"/>
              <a:buFont typeface="Arial"/>
              <a:buNone/>
            </a:pPr>
            <a:r>
              <a:rPr b="1" i="0" lang="en-US" sz="52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01.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 txBox="1"/>
          <p:nvPr/>
        </p:nvSpPr>
        <p:spPr>
          <a:xfrm>
            <a:off x="365760" y="1920240"/>
            <a:ext cx="43891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El problema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y la solución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365760" y="3310128"/>
            <a:ext cx="4114800" cy="457200"/>
          </a:xfrm>
          <a:prstGeom prst="rect">
            <a:avLst/>
          </a:prstGeom>
          <a:solidFill>
            <a:srgbClr val="FFAB40"/>
          </a:solidFill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 txBox="1"/>
          <p:nvPr/>
        </p:nvSpPr>
        <p:spPr>
          <a:xfrm>
            <a:off x="365760" y="3310128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Una decisión que hoy se toma sin información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" name="Google Shape;65;p3"/>
          <p:cNvCxnSpPr/>
          <p:nvPr/>
        </p:nvCxnSpPr>
        <p:spPr>
          <a:xfrm>
            <a:off x="5029200" y="566928"/>
            <a:ext cx="0" cy="4050792"/>
          </a:xfrm>
          <a:prstGeom prst="straightConnector1">
            <a:avLst/>
          </a:prstGeom>
          <a:noFill/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"/>
          <p:cNvSpPr txBox="1"/>
          <p:nvPr/>
        </p:nvSpPr>
        <p:spPr>
          <a:xfrm>
            <a:off x="365760" y="109728"/>
            <a:ext cx="5120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Reingreso hospitalario evitable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 txBox="1"/>
          <p:nvPr/>
        </p:nvSpPr>
        <p:spPr>
          <a:xfrm>
            <a:off x="5486400" y="109728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Grupo 2 · UTEC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" name="Google Shape;73;p4"/>
          <p:cNvCxnSpPr/>
          <p:nvPr/>
        </p:nvCxnSpPr>
        <p:spPr>
          <a:xfrm>
            <a:off x="365760" y="347472"/>
            <a:ext cx="8412480" cy="0"/>
          </a:xfrm>
          <a:prstGeom prst="straightConnector1">
            <a:avLst/>
          </a:prstGeom>
          <a:noFill/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" name="Google Shape;74;p4"/>
          <p:cNvCxnSpPr/>
          <p:nvPr/>
        </p:nvCxnSpPr>
        <p:spPr>
          <a:xfrm>
            <a:off x="365760" y="4828032"/>
            <a:ext cx="8412480" cy="0"/>
          </a:xfrm>
          <a:prstGeom prst="straightConnector1">
            <a:avLst/>
          </a:prstGeom>
          <a:noFill/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" name="Google Shape;75;p4"/>
          <p:cNvSpPr txBox="1"/>
          <p:nvPr/>
        </p:nvSpPr>
        <p:spPr>
          <a:xfrm>
            <a:off x="365760" y="548640"/>
            <a:ext cx="8412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El problema en números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9623515" y="525291"/>
            <a:ext cx="1143000" cy="4206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7890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 txBox="1"/>
          <p:nvPr/>
        </p:nvSpPr>
        <p:spPr>
          <a:xfrm>
            <a:off x="9623515" y="525303"/>
            <a:ext cx="1143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DANIEL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1:15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365760" y="1234440"/>
            <a:ext cx="2651760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365760" y="1234440"/>
            <a:ext cx="2651760" cy="91440"/>
          </a:xfrm>
          <a:prstGeom prst="rect">
            <a:avLst/>
          </a:prstGeom>
          <a:solidFill>
            <a:srgbClr val="FFAB40"/>
          </a:solidFill>
          <a:ln cap="flat" cmpd="sng" w="12700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 txBox="1"/>
          <p:nvPr/>
        </p:nvSpPr>
        <p:spPr>
          <a:xfrm>
            <a:off x="530352" y="1444752"/>
            <a:ext cx="23225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11,16 %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 txBox="1"/>
          <p:nvPr/>
        </p:nvSpPr>
        <p:spPr>
          <a:xfrm>
            <a:off x="530352" y="1956816"/>
            <a:ext cx="232257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12121"/>
                </a:solidFill>
              </a:rPr>
              <a:t>1 de cada 9 pacientes</a:t>
            </a:r>
            <a:endParaRPr sz="1050">
              <a:solidFill>
                <a:srgbClr val="21212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12121"/>
                </a:solidFill>
              </a:rPr>
              <a:t>R</a:t>
            </a:r>
            <a:r>
              <a:rPr b="0" i="0" lang="en-US" sz="10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eingresa antes de 30 días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5750375" y="1234440"/>
            <a:ext cx="2651700" cy="1691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5750375" y="1234440"/>
            <a:ext cx="2651700" cy="91500"/>
          </a:xfrm>
          <a:prstGeom prst="rect">
            <a:avLst/>
          </a:prstGeom>
          <a:solidFill>
            <a:srgbClr val="FFAB40"/>
          </a:solidFill>
          <a:ln cap="flat" cmpd="sng" w="12700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 txBox="1"/>
          <p:nvPr/>
        </p:nvSpPr>
        <p:spPr>
          <a:xfrm>
            <a:off x="5914976" y="1444750"/>
            <a:ext cx="2502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600"/>
              <a:buFont typeface="Arial"/>
              <a:buNone/>
            </a:pPr>
            <a:r>
              <a:rPr b="1" lang="en-US" sz="2300">
                <a:solidFill>
                  <a:srgbClr val="212121"/>
                </a:solidFill>
              </a:rPr>
              <a:t>825k - 1.1M/año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 txBox="1"/>
          <p:nvPr/>
        </p:nvSpPr>
        <p:spPr>
          <a:xfrm>
            <a:off x="5914967" y="1956816"/>
            <a:ext cx="2322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12121"/>
                </a:solidFill>
              </a:rPr>
              <a:t>Costo de </a:t>
            </a:r>
            <a:r>
              <a:rPr b="0" i="0" lang="en-US" sz="10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pacientes diabético </a:t>
            </a:r>
            <a:r>
              <a:rPr lang="en-US" sz="1050">
                <a:solidFill>
                  <a:srgbClr val="212121"/>
                </a:solidFill>
              </a:rPr>
              <a:t>que reingresan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 txBox="1"/>
          <p:nvPr/>
        </p:nvSpPr>
        <p:spPr>
          <a:xfrm>
            <a:off x="495667" y="2606046"/>
            <a:ext cx="2322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850"/>
              <a:buFont typeface="Arial"/>
              <a:buNone/>
            </a:pPr>
            <a:r>
              <a:rPr b="0" i="1" lang="en-US" sz="85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Sobre datos reales de 130 hospitales EEUU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365760" y="3200400"/>
            <a:ext cx="2286000" cy="384048"/>
          </a:xfrm>
          <a:prstGeom prst="rect">
            <a:avLst/>
          </a:prstGeom>
          <a:solidFill>
            <a:srgbClr val="FFAB40"/>
          </a:solidFill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 txBox="1"/>
          <p:nvPr/>
        </p:nvSpPr>
        <p:spPr>
          <a:xfrm>
            <a:off x="365760" y="3251613"/>
            <a:ext cx="2286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Por qué sucede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 txBox="1"/>
          <p:nvPr/>
        </p:nvSpPr>
        <p:spPr>
          <a:xfrm>
            <a:off x="2788920" y="3200400"/>
            <a:ext cx="5989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Hoy ningún sistema le dice al médico, en el momento del alta, qué pacientes tienen más riesgo de volver</a:t>
            </a:r>
            <a:endParaRPr sz="1100">
              <a:solidFill>
                <a:srgbClr val="212121"/>
              </a:solidFill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Arial"/>
              <a:buChar char="-"/>
            </a:pPr>
            <a:r>
              <a:rPr lang="en-US" sz="1100">
                <a:solidFill>
                  <a:srgbClr val="212121"/>
                </a:solidFill>
              </a:rPr>
              <a:t>H</a:t>
            </a:r>
            <a:r>
              <a:rPr b="0" i="0" lang="en-US" sz="11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ospital aplica protocolos genéricos a todos</a:t>
            </a:r>
            <a:endParaRPr sz="1100">
              <a:solidFill>
                <a:srgbClr val="212121"/>
              </a:solidFill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Arial"/>
              <a:buChar char="-"/>
            </a:pPr>
            <a:r>
              <a:rPr lang="en-US" sz="1100">
                <a:solidFill>
                  <a:srgbClr val="212121"/>
                </a:solidFill>
              </a:rPr>
              <a:t>C</a:t>
            </a:r>
            <a:r>
              <a:rPr b="0" i="0" lang="en-US" sz="11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apacidad de seguimiento no alcanza para todos.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 txBox="1"/>
          <p:nvPr/>
        </p:nvSpPr>
        <p:spPr>
          <a:xfrm>
            <a:off x="341560" y="4882905"/>
            <a:ext cx="8412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800"/>
              <a:buFont typeface="Arial"/>
              <a:buNone/>
            </a:pPr>
            <a:r>
              <a:rPr b="0" i="1" lang="en-US" sz="800" u="none" cap="none" strike="noStrike">
                <a:solidFill>
                  <a:srgbClr val="78909C"/>
                </a:solidFill>
                <a:latin typeface="Arial"/>
                <a:ea typeface="Arial"/>
                <a:cs typeface="Arial"/>
                <a:sym typeface="Arial"/>
              </a:rPr>
              <a:t>Fuente: Diabetes 130-US Hospitals 1999–2008, UCI Machine Learning Repository (Strack et al., 2014). Cifra recalculada en el repositorio del equipo.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 txBox="1"/>
          <p:nvPr/>
        </p:nvSpPr>
        <p:spPr>
          <a:xfrm>
            <a:off x="5878667" y="2606046"/>
            <a:ext cx="2322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850"/>
              <a:buFont typeface="Arial"/>
              <a:buNone/>
            </a:pPr>
            <a:r>
              <a:rPr i="1" lang="en-US" sz="850">
                <a:solidFill>
                  <a:srgbClr val="78909C"/>
                </a:solidFill>
              </a:rPr>
              <a:t>Fuente Essalud 2024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"/>
          <p:cNvSpPr txBox="1"/>
          <p:nvPr/>
        </p:nvSpPr>
        <p:spPr>
          <a:xfrm>
            <a:off x="365760" y="109728"/>
            <a:ext cx="5120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Reingreso hospitalario evitable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 txBox="1"/>
          <p:nvPr/>
        </p:nvSpPr>
        <p:spPr>
          <a:xfrm>
            <a:off x="5486400" y="109728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Grupo 2 · UTEC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" name="Google Shape;99;p5"/>
          <p:cNvCxnSpPr/>
          <p:nvPr/>
        </p:nvCxnSpPr>
        <p:spPr>
          <a:xfrm>
            <a:off x="365760" y="347472"/>
            <a:ext cx="8412480" cy="0"/>
          </a:xfrm>
          <a:prstGeom prst="straightConnector1">
            <a:avLst/>
          </a:prstGeom>
          <a:noFill/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5"/>
          <p:cNvCxnSpPr/>
          <p:nvPr/>
        </p:nvCxnSpPr>
        <p:spPr>
          <a:xfrm>
            <a:off x="365760" y="4828032"/>
            <a:ext cx="8412480" cy="0"/>
          </a:xfrm>
          <a:prstGeom prst="straightConnector1">
            <a:avLst/>
          </a:prstGeom>
          <a:noFill/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" name="Google Shape;101;p5"/>
          <p:cNvSpPr txBox="1"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La solución beneficia a tres actores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9535040" y="566916"/>
            <a:ext cx="1143000" cy="4206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7890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 txBox="1"/>
          <p:nvPr/>
        </p:nvSpPr>
        <p:spPr>
          <a:xfrm>
            <a:off x="9561065" y="566928"/>
            <a:ext cx="1143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DANIEL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1:15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 txBox="1"/>
          <p:nvPr/>
        </p:nvSpPr>
        <p:spPr>
          <a:xfrm>
            <a:off x="365760" y="1143000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Un puntaje de riesgo calculado en el momento del alta, con los datos que el hospital ya tiene, que ordena a quién seguir primero. </a:t>
            </a:r>
            <a:r>
              <a:rPr b="1" i="0" lang="en-US" sz="1150" u="none" cap="none" strike="noStrike">
                <a:solidFill>
                  <a:srgbClr val="212121"/>
                </a:solidFill>
              </a:rPr>
              <a:t>Apoya el juicio clínico, no lo reemplaza.</a:t>
            </a:r>
            <a:endParaRPr b="1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365760" y="2331720"/>
            <a:ext cx="2651760" cy="384048"/>
          </a:xfrm>
          <a:prstGeom prst="rect">
            <a:avLst/>
          </a:prstGeom>
          <a:solidFill>
            <a:srgbClr val="FFAB40"/>
          </a:solidFill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 txBox="1"/>
          <p:nvPr/>
        </p:nvSpPr>
        <p:spPr>
          <a:xfrm>
            <a:off x="365760" y="2331720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Hospital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 txBox="1"/>
          <p:nvPr/>
        </p:nvSpPr>
        <p:spPr>
          <a:xfrm>
            <a:off x="457200" y="2834640"/>
            <a:ext cx="2514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Prioriza los cupos de seguimiento que ya tiene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Intervención temprana en quien más la necesita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Menos reingresos con los mismos recursos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3200400" y="2331720"/>
            <a:ext cx="2651760" cy="384048"/>
          </a:xfrm>
          <a:prstGeom prst="rect">
            <a:avLst/>
          </a:prstGeom>
          <a:solidFill>
            <a:srgbClr val="FFAB40"/>
          </a:solidFill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 txBox="1"/>
          <p:nvPr/>
        </p:nvSpPr>
        <p:spPr>
          <a:xfrm>
            <a:off x="3200400" y="2331720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Paciente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 txBox="1"/>
          <p:nvPr/>
        </p:nvSpPr>
        <p:spPr>
          <a:xfrm>
            <a:off x="3291840" y="2834640"/>
            <a:ext cx="2514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Contacto </a:t>
            </a:r>
            <a:r>
              <a:rPr lang="en-US" sz="1000">
                <a:solidFill>
                  <a:srgbClr val="212121"/>
                </a:solidFill>
              </a:rPr>
              <a:t>oportuno luego del alta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Mejor adherencia al tratamiento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Menor riesgo</a:t>
            </a:r>
            <a:endParaRPr sz="1000">
              <a:solidFill>
                <a:srgbClr val="212121"/>
              </a:solidFill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00"/>
              <a:buChar char="•"/>
            </a:pPr>
            <a:r>
              <a:rPr lang="en-US" sz="1000">
                <a:solidFill>
                  <a:srgbClr val="212121"/>
                </a:solidFill>
              </a:rPr>
              <a:t>Ahorro Reingreso a Hospital</a:t>
            </a:r>
            <a:endParaRPr sz="1000">
              <a:solidFill>
                <a:srgbClr val="212121"/>
              </a:solidFill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6035040" y="2331720"/>
            <a:ext cx="2651760" cy="384048"/>
          </a:xfrm>
          <a:prstGeom prst="rect">
            <a:avLst/>
          </a:prstGeom>
          <a:solidFill>
            <a:srgbClr val="FFAB40"/>
          </a:solidFill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 txBox="1"/>
          <p:nvPr/>
        </p:nvSpPr>
        <p:spPr>
          <a:xfrm>
            <a:off x="6035040" y="2331720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Sistema de salud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 txBox="1"/>
          <p:nvPr/>
        </p:nvSpPr>
        <p:spPr>
          <a:xfrm>
            <a:off x="6126480" y="2834640"/>
            <a:ext cx="2514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Indicadores de calidad medibles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Preparación para financiamiento </a:t>
            </a:r>
            <a:r>
              <a:rPr lang="en-US" sz="1000">
                <a:solidFill>
                  <a:srgbClr val="212121"/>
                </a:solidFill>
              </a:rPr>
              <a:t>por Sistema de Salud.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rgbClr val="212121"/>
                </a:solidFill>
              </a:rPr>
              <a:t>Mejora </a:t>
            </a:r>
            <a:r>
              <a:rPr b="0" i="0" lang="en-US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Gobernanza de datos clínicos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keleton is sitting at a table waiting for the 2022 calendar to be released . (proporcionada por Tenor)" id="114" name="Google Shape;114;p5"/>
          <p:cNvPicPr preferRelativeResize="0"/>
          <p:nvPr/>
        </p:nvPicPr>
        <p:blipFill rotWithShape="1">
          <a:blip r:embed="rId3">
            <a:alphaModFix/>
          </a:blip>
          <a:srcRect b="4338" l="0" r="0" t="4338"/>
          <a:stretch/>
        </p:blipFill>
        <p:spPr>
          <a:xfrm>
            <a:off x="4254450" y="1661100"/>
            <a:ext cx="635100" cy="579900"/>
          </a:xfrm>
          <a:prstGeom prst="ellipse">
            <a:avLst/>
          </a:prstGeom>
          <a:solidFill>
            <a:srgbClr val="FFAB40"/>
          </a:solidFill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interior of a hospital recovery room with three beds (proporcionada por Getty Images)" id="115" name="Google Shape;115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5800" y="1645200"/>
            <a:ext cx="635100" cy="595800"/>
          </a:xfrm>
          <a:prstGeom prst="ellipse">
            <a:avLst/>
          </a:prstGeom>
          <a:solidFill>
            <a:srgbClr val="FFAB40"/>
          </a:solidFill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People working in healthcare office (proporcionada por Getty Images)" id="116" name="Google Shape;116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84700" y="1653150"/>
            <a:ext cx="685500" cy="579900"/>
          </a:xfrm>
          <a:prstGeom prst="ellipse">
            <a:avLst/>
          </a:prstGeom>
          <a:solidFill>
            <a:srgbClr val="FFAB40"/>
          </a:solidFill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/>
          <p:nvPr/>
        </p:nvSpPr>
        <p:spPr>
          <a:xfrm>
            <a:off x="365760" y="109728"/>
            <a:ext cx="5120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Reingreso hospitalario evitable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 txBox="1"/>
          <p:nvPr/>
        </p:nvSpPr>
        <p:spPr>
          <a:xfrm>
            <a:off x="5486400" y="109728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Grupo 2 · UTEC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" name="Google Shape;124;p6"/>
          <p:cNvCxnSpPr/>
          <p:nvPr/>
        </p:nvCxnSpPr>
        <p:spPr>
          <a:xfrm>
            <a:off x="365760" y="347472"/>
            <a:ext cx="8412480" cy="0"/>
          </a:xfrm>
          <a:prstGeom prst="straightConnector1">
            <a:avLst/>
          </a:prstGeom>
          <a:noFill/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5" name="Google Shape;125;p6"/>
          <p:cNvCxnSpPr/>
          <p:nvPr/>
        </p:nvCxnSpPr>
        <p:spPr>
          <a:xfrm>
            <a:off x="365760" y="4828032"/>
            <a:ext cx="8412480" cy="0"/>
          </a:xfrm>
          <a:prstGeom prst="straightConnector1">
            <a:avLst/>
          </a:prstGeom>
          <a:noFill/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" name="Google Shape;126;p6"/>
          <p:cNvSpPr txBox="1"/>
          <p:nvPr/>
        </p:nvSpPr>
        <p:spPr>
          <a:xfrm>
            <a:off x="365760" y="1051560"/>
            <a:ext cx="4206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5200"/>
              <a:buFont typeface="Arial"/>
              <a:buNone/>
            </a:pPr>
            <a:r>
              <a:rPr b="1" i="0" lang="en-US" sz="52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02.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 txBox="1"/>
          <p:nvPr/>
        </p:nvSpPr>
        <p:spPr>
          <a:xfrm>
            <a:off x="365760" y="1920240"/>
            <a:ext cx="43891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Mercado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y producto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365760" y="3310128"/>
            <a:ext cx="4114800" cy="457200"/>
          </a:xfrm>
          <a:prstGeom prst="rect">
            <a:avLst/>
          </a:prstGeom>
          <a:solidFill>
            <a:srgbClr val="FFAB40"/>
          </a:solidFill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 txBox="1"/>
          <p:nvPr/>
        </p:nvSpPr>
        <p:spPr>
          <a:xfrm>
            <a:off x="365760" y="3310128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Dónde se usa y cómo funciona en el día a día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6"/>
          <p:cNvCxnSpPr/>
          <p:nvPr/>
        </p:nvCxnSpPr>
        <p:spPr>
          <a:xfrm>
            <a:off x="5029200" y="566928"/>
            <a:ext cx="0" cy="4050792"/>
          </a:xfrm>
          <a:prstGeom prst="straightConnector1">
            <a:avLst/>
          </a:prstGeom>
          <a:noFill/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"/>
          <p:cNvSpPr txBox="1"/>
          <p:nvPr/>
        </p:nvSpPr>
        <p:spPr>
          <a:xfrm>
            <a:off x="365760" y="109728"/>
            <a:ext cx="5120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Reingreso hospitalario evitable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 txBox="1"/>
          <p:nvPr/>
        </p:nvSpPr>
        <p:spPr>
          <a:xfrm>
            <a:off x="5486400" y="109728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Grupo 2 · UTEC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" name="Google Shape;138;p7"/>
          <p:cNvCxnSpPr/>
          <p:nvPr/>
        </p:nvCxnSpPr>
        <p:spPr>
          <a:xfrm>
            <a:off x="365760" y="347472"/>
            <a:ext cx="8412480" cy="0"/>
          </a:xfrm>
          <a:prstGeom prst="straightConnector1">
            <a:avLst/>
          </a:prstGeom>
          <a:noFill/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" name="Google Shape;139;p7"/>
          <p:cNvCxnSpPr/>
          <p:nvPr/>
        </p:nvCxnSpPr>
        <p:spPr>
          <a:xfrm>
            <a:off x="365760" y="4828032"/>
            <a:ext cx="8412480" cy="0"/>
          </a:xfrm>
          <a:prstGeom prst="straightConnector1">
            <a:avLst/>
          </a:prstGeom>
          <a:noFill/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7"/>
          <p:cNvSpPr txBox="1"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Mercado y oportunidad en Perú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365760" y="1234440"/>
            <a:ext cx="82296" cy="868680"/>
          </a:xfrm>
          <a:prstGeom prst="rect">
            <a:avLst/>
          </a:prstGeom>
          <a:solidFill>
            <a:srgbClr val="FFAB40"/>
          </a:solidFill>
          <a:ln cap="flat" cmpd="sng" w="12700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 txBox="1"/>
          <p:nvPr/>
        </p:nvSpPr>
        <p:spPr>
          <a:xfrm>
            <a:off x="594360" y="12344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Tamaño del mercado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594360" y="1527048"/>
            <a:ext cx="4114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500 000+ pacientes diabéticos hospitalizados al año en Perú, entre MINSA, EsSalud y clínicas privadas.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365760" y="2258568"/>
            <a:ext cx="82296" cy="868680"/>
          </a:xfrm>
          <a:prstGeom prst="rect">
            <a:avLst/>
          </a:prstGeom>
          <a:solidFill>
            <a:srgbClr val="FFAB40"/>
          </a:solidFill>
          <a:ln cap="flat" cmpd="sng" w="12700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 txBox="1"/>
          <p:nvPr/>
        </p:nvSpPr>
        <p:spPr>
          <a:xfrm>
            <a:off x="594360" y="225856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Penetración inicial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 txBox="1"/>
          <p:nvPr/>
        </p:nvSpPr>
        <p:spPr>
          <a:xfrm>
            <a:off x="594360" y="2551176"/>
            <a:ext cx="4114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12121"/>
                </a:solidFill>
              </a:rPr>
              <a:t>Se arranca con una o dos instituciones para validación prospectiva antes de considerar réplica.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365760" y="3282696"/>
            <a:ext cx="82296" cy="868680"/>
          </a:xfrm>
          <a:prstGeom prst="rect">
            <a:avLst/>
          </a:prstGeom>
          <a:solidFill>
            <a:srgbClr val="FFAB40"/>
          </a:solidFill>
          <a:ln cap="flat" cmpd="sng" w="12700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 txBox="1"/>
          <p:nvPr/>
        </p:nvSpPr>
        <p:spPr>
          <a:xfrm>
            <a:off x="594360" y="3282696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Barrera de entrada baja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 txBox="1"/>
          <p:nvPr/>
        </p:nvSpPr>
        <p:spPr>
          <a:xfrm>
            <a:off x="594360" y="3575304"/>
            <a:ext cx="4114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El modelo usa datos que todo hospital ya registra: edad, diagnósticos, medicación e historial de ingresos.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" name="Google Shape;150;p7"/>
          <p:cNvCxnSpPr/>
          <p:nvPr/>
        </p:nvCxnSpPr>
        <p:spPr>
          <a:xfrm>
            <a:off x="4983480" y="1188720"/>
            <a:ext cx="0" cy="3154680"/>
          </a:xfrm>
          <a:prstGeom prst="straightConnector1">
            <a:avLst/>
          </a:prstGeom>
          <a:noFill/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p7"/>
          <p:cNvSpPr txBox="1"/>
          <p:nvPr/>
        </p:nvSpPr>
        <p:spPr>
          <a:xfrm>
            <a:off x="5257800" y="1234440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Lo que diferencia al caso peruano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 txBox="1"/>
          <p:nvPr/>
        </p:nvSpPr>
        <p:spPr>
          <a:xfrm>
            <a:off x="5257800" y="1502493"/>
            <a:ext cx="35205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En Estados Unidos el reingreso se combate porque el pagador penaliza al hospital. En Perú no existe esa penalización: el incentivo es el ahorro operativo directo y la calidad asistencial.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5257800" y="2279800"/>
            <a:ext cx="3520500" cy="1002900"/>
          </a:xfrm>
          <a:prstGeom prst="rect">
            <a:avLst/>
          </a:prstGeom>
          <a:solidFill>
            <a:srgbClr val="FFAB40"/>
          </a:solidFill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 txBox="1"/>
          <p:nvPr/>
        </p:nvSpPr>
        <p:spPr>
          <a:xfrm>
            <a:off x="5379450" y="2377413"/>
            <a:ext cx="31797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El costo institucional de un reingreso en Perú. Es el número que convierte la priorización en un caso financiero, y lo estamos levantando con fuente citable para </a:t>
            </a:r>
            <a:r>
              <a:rPr lang="en-US" sz="1050">
                <a:solidFill>
                  <a:srgbClr val="212121"/>
                </a:solidFill>
              </a:rPr>
              <a:t>el siguiente entregable.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emale doctor with stethoscope using calculator (proporcionada por Getty Images)" id="155" name="Google Shape;155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7358" y="3416550"/>
            <a:ext cx="2079718" cy="13861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"/>
          <p:cNvSpPr txBox="1"/>
          <p:nvPr/>
        </p:nvSpPr>
        <p:spPr>
          <a:xfrm>
            <a:off x="365760" y="109728"/>
            <a:ext cx="5120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Reingreso hospitalario evitable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 txBox="1"/>
          <p:nvPr/>
        </p:nvSpPr>
        <p:spPr>
          <a:xfrm>
            <a:off x="5486400" y="109728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Grupo 2 · UTEC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8"/>
          <p:cNvCxnSpPr/>
          <p:nvPr/>
        </p:nvCxnSpPr>
        <p:spPr>
          <a:xfrm>
            <a:off x="365760" y="347472"/>
            <a:ext cx="8412480" cy="0"/>
          </a:xfrm>
          <a:prstGeom prst="straightConnector1">
            <a:avLst/>
          </a:prstGeom>
          <a:noFill/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4" name="Google Shape;164;p8"/>
          <p:cNvCxnSpPr/>
          <p:nvPr/>
        </p:nvCxnSpPr>
        <p:spPr>
          <a:xfrm>
            <a:off x="365760" y="4828032"/>
            <a:ext cx="8412480" cy="0"/>
          </a:xfrm>
          <a:prstGeom prst="straightConnector1">
            <a:avLst/>
          </a:prstGeom>
          <a:noFill/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" name="Google Shape;165;p8"/>
          <p:cNvSpPr txBox="1"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Flujo del producto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9769265" y="525266"/>
            <a:ext cx="1143000" cy="4206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7890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 txBox="1"/>
          <p:nvPr/>
        </p:nvSpPr>
        <p:spPr>
          <a:xfrm>
            <a:off x="9852540" y="525278"/>
            <a:ext cx="1143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EDUARDO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1:30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365760" y="1234440"/>
            <a:ext cx="2651760" cy="2514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548640" y="1417320"/>
            <a:ext cx="475488" cy="475488"/>
          </a:xfrm>
          <a:prstGeom prst="ellipse">
            <a:avLst/>
          </a:prstGeom>
          <a:solidFill>
            <a:srgbClr val="FFAB40"/>
          </a:solidFill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 txBox="1"/>
          <p:nvPr/>
        </p:nvSpPr>
        <p:spPr>
          <a:xfrm>
            <a:off x="548640" y="141732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 txBox="1"/>
          <p:nvPr/>
        </p:nvSpPr>
        <p:spPr>
          <a:xfrm>
            <a:off x="1143000" y="1490472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INGESTA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 txBox="1"/>
          <p:nvPr/>
        </p:nvSpPr>
        <p:spPr>
          <a:xfrm>
            <a:off x="548640" y="2057400"/>
            <a:ext cx="22860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Al dar de alta, el sistema toma los datos que ya están en la historia clínica: edad, diagnósticos, medicación y hospitalizaciones previas.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548640" y="3200400"/>
            <a:ext cx="2286000" cy="347472"/>
          </a:xfrm>
          <a:prstGeom prst="rect">
            <a:avLst/>
          </a:prstGeom>
          <a:solidFill>
            <a:srgbClr val="EEEEEE"/>
          </a:solidFill>
          <a:ln cap="flat" cmpd="sng" w="12700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 txBox="1"/>
          <p:nvPr/>
        </p:nvSpPr>
        <p:spPr>
          <a:xfrm>
            <a:off x="548640" y="3200400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Sin captura manual adicional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3063240" y="2377440"/>
            <a:ext cx="109728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A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3200400" y="1234440"/>
            <a:ext cx="2651760" cy="2514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3383280" y="1417320"/>
            <a:ext cx="475488" cy="475488"/>
          </a:xfrm>
          <a:prstGeom prst="ellipse">
            <a:avLst/>
          </a:prstGeom>
          <a:solidFill>
            <a:srgbClr val="FFAB40"/>
          </a:solidFill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 txBox="1"/>
          <p:nvPr/>
        </p:nvSpPr>
        <p:spPr>
          <a:xfrm>
            <a:off x="3383280" y="141732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 txBox="1"/>
          <p:nvPr/>
        </p:nvSpPr>
        <p:spPr>
          <a:xfrm>
            <a:off x="3977640" y="1490472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PREDICCIÓN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 txBox="1"/>
          <p:nvPr/>
        </p:nvSpPr>
        <p:spPr>
          <a:xfrm>
            <a:off x="3383280" y="2057400"/>
            <a:ext cx="22860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El modelo devuelve un puntaje de riesgo y los factores que lo explican. Nada de caja negra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3383280" y="3200400"/>
            <a:ext cx="2286000" cy="347472"/>
          </a:xfrm>
          <a:prstGeom prst="rect">
            <a:avLst/>
          </a:prstGeom>
          <a:solidFill>
            <a:srgbClr val="EEEEEE"/>
          </a:solidFill>
          <a:ln cap="flat" cmpd="sng" w="12700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 txBox="1"/>
          <p:nvPr/>
        </p:nvSpPr>
        <p:spPr>
          <a:xfrm>
            <a:off x="3383280" y="3200400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212121"/>
                </a:solidFill>
              </a:rPr>
              <a:t>E</a:t>
            </a:r>
            <a:r>
              <a:rPr lang="en-US" sz="1000">
                <a:solidFill>
                  <a:srgbClr val="212121"/>
                </a:solidFill>
              </a:rPr>
              <a:t>l médico ve por qué.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5897880" y="2377440"/>
            <a:ext cx="109728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A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6035040" y="1234440"/>
            <a:ext cx="2651760" cy="2514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6217920" y="1417320"/>
            <a:ext cx="475488" cy="475488"/>
          </a:xfrm>
          <a:prstGeom prst="ellipse">
            <a:avLst/>
          </a:prstGeom>
          <a:solidFill>
            <a:srgbClr val="FFAB40"/>
          </a:solidFill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 txBox="1"/>
          <p:nvPr/>
        </p:nvSpPr>
        <p:spPr>
          <a:xfrm>
            <a:off x="6217920" y="141732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 txBox="1"/>
          <p:nvPr/>
        </p:nvSpPr>
        <p:spPr>
          <a:xfrm>
            <a:off x="6812280" y="1490472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ACCIÓN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 txBox="1"/>
          <p:nvPr/>
        </p:nvSpPr>
        <p:spPr>
          <a:xfrm>
            <a:off x="6217920" y="2057400"/>
            <a:ext cx="22860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La lista ordenada llega al equipo de enlace, que atiende a los pacientes que caben en su capacidad real de seguimiento.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6217920" y="3200400"/>
            <a:ext cx="2286000" cy="347472"/>
          </a:xfrm>
          <a:prstGeom prst="rect">
            <a:avLst/>
          </a:prstGeom>
          <a:solidFill>
            <a:srgbClr val="EEEEEE"/>
          </a:solidFill>
          <a:ln cap="flat" cmpd="sng" w="12700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 txBox="1"/>
          <p:nvPr/>
        </p:nvSpPr>
        <p:spPr>
          <a:xfrm>
            <a:off x="6217920" y="3200400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Un</a:t>
            </a:r>
            <a:r>
              <a:rPr i="1" lang="en-US" sz="900">
                <a:solidFill>
                  <a:srgbClr val="212121"/>
                </a:solidFill>
              </a:rPr>
              <a:t> número de</a:t>
            </a:r>
            <a:r>
              <a:rPr b="0" i="1" lang="en-US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pacientes por turno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 txBox="1"/>
          <p:nvPr/>
        </p:nvSpPr>
        <p:spPr>
          <a:xfrm>
            <a:off x="365760" y="3977640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El punto de corte no lo fija el modelo</a:t>
            </a:r>
            <a:r>
              <a:rPr b="1" lang="en-US" sz="1050">
                <a:solidFill>
                  <a:srgbClr val="212121"/>
                </a:solidFill>
              </a:rPr>
              <a:t> sino </a:t>
            </a:r>
            <a:r>
              <a:rPr b="1" i="0" lang="en-US" sz="10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la capacidad del equipo. Por eso la lista siempre cabe en el turno.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"/>
          <p:cNvSpPr txBox="1"/>
          <p:nvPr/>
        </p:nvSpPr>
        <p:spPr>
          <a:xfrm>
            <a:off x="365760" y="109728"/>
            <a:ext cx="5120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Reingreso hospitalario evitable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 txBox="1"/>
          <p:nvPr/>
        </p:nvSpPr>
        <p:spPr>
          <a:xfrm>
            <a:off x="5486400" y="109728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Grupo 2 · UTEC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" name="Google Shape;199;p9"/>
          <p:cNvCxnSpPr/>
          <p:nvPr/>
        </p:nvCxnSpPr>
        <p:spPr>
          <a:xfrm>
            <a:off x="365760" y="347472"/>
            <a:ext cx="8412480" cy="0"/>
          </a:xfrm>
          <a:prstGeom prst="straightConnector1">
            <a:avLst/>
          </a:prstGeom>
          <a:noFill/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0" name="Google Shape;200;p9"/>
          <p:cNvCxnSpPr/>
          <p:nvPr/>
        </p:nvCxnSpPr>
        <p:spPr>
          <a:xfrm>
            <a:off x="365760" y="4828032"/>
            <a:ext cx="8412480" cy="0"/>
          </a:xfrm>
          <a:prstGeom prst="straightConnector1">
            <a:avLst/>
          </a:prstGeom>
          <a:noFill/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" name="Google Shape;201;p9"/>
          <p:cNvSpPr txBox="1"/>
          <p:nvPr/>
        </p:nvSpPr>
        <p:spPr>
          <a:xfrm>
            <a:off x="365760" y="1051560"/>
            <a:ext cx="4206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5200"/>
              <a:buFont typeface="Arial"/>
              <a:buNone/>
            </a:pPr>
            <a:r>
              <a:rPr b="1" i="0" lang="en-US" sz="52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03.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 txBox="1"/>
          <p:nvPr/>
        </p:nvSpPr>
        <p:spPr>
          <a:xfrm>
            <a:off x="365760" y="1920240"/>
            <a:ext cx="43891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Cómo mediremos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el éxito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365760" y="3310128"/>
            <a:ext cx="4114800" cy="457200"/>
          </a:xfrm>
          <a:prstGeom prst="rect">
            <a:avLst/>
          </a:prstGeom>
          <a:solidFill>
            <a:srgbClr val="FFAB40"/>
          </a:solidFill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 txBox="1"/>
          <p:nvPr/>
        </p:nvSpPr>
        <p:spPr>
          <a:xfrm>
            <a:off x="365760" y="3310128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Métrica, umbral y baselines declarados antes de entrenar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5" name="Google Shape;205;p9"/>
          <p:cNvCxnSpPr/>
          <p:nvPr/>
        </p:nvCxnSpPr>
        <p:spPr>
          <a:xfrm>
            <a:off x="5029200" y="566928"/>
            <a:ext cx="0" cy="4050792"/>
          </a:xfrm>
          <a:prstGeom prst="straightConnector1">
            <a:avLst/>
          </a:prstGeom>
          <a:noFill/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"/>
          <p:cNvSpPr txBox="1"/>
          <p:nvPr/>
        </p:nvSpPr>
        <p:spPr>
          <a:xfrm>
            <a:off x="365760" y="109728"/>
            <a:ext cx="5120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Reingreso hospitalario evitable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 txBox="1"/>
          <p:nvPr/>
        </p:nvSpPr>
        <p:spPr>
          <a:xfrm>
            <a:off x="5486400" y="109728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Grupo 2 · UTEC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10"/>
          <p:cNvCxnSpPr/>
          <p:nvPr/>
        </p:nvCxnSpPr>
        <p:spPr>
          <a:xfrm>
            <a:off x="365760" y="347472"/>
            <a:ext cx="8412480" cy="0"/>
          </a:xfrm>
          <a:prstGeom prst="straightConnector1">
            <a:avLst/>
          </a:prstGeom>
          <a:noFill/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4" name="Google Shape;214;p10"/>
          <p:cNvCxnSpPr/>
          <p:nvPr/>
        </p:nvCxnSpPr>
        <p:spPr>
          <a:xfrm>
            <a:off x="365760" y="4828032"/>
            <a:ext cx="8412480" cy="0"/>
          </a:xfrm>
          <a:prstGeom prst="straightConnector1">
            <a:avLst/>
          </a:prstGeom>
          <a:noFill/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5" name="Google Shape;215;p10"/>
          <p:cNvSpPr txBox="1"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Métrica, umbral y baselines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9498590" y="548641"/>
            <a:ext cx="1143000" cy="4206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7890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"/>
          <p:cNvSpPr txBox="1"/>
          <p:nvPr/>
        </p:nvSpPr>
        <p:spPr>
          <a:xfrm>
            <a:off x="9498590" y="548653"/>
            <a:ext cx="1143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KEVIN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1:30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365760" y="1188720"/>
            <a:ext cx="4023360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"/>
          <p:cNvSpPr/>
          <p:nvPr/>
        </p:nvSpPr>
        <p:spPr>
          <a:xfrm>
            <a:off x="365760" y="1188720"/>
            <a:ext cx="4023360" cy="365760"/>
          </a:xfrm>
          <a:prstGeom prst="rect">
            <a:avLst/>
          </a:prstGeom>
          <a:solidFill>
            <a:srgbClr val="FFAB40"/>
          </a:solidFill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"/>
          <p:cNvSpPr txBox="1"/>
          <p:nvPr/>
        </p:nvSpPr>
        <p:spPr>
          <a:xfrm>
            <a:off x="365760" y="118872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MÉTRICA PRIMARIA · Recall@K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 txBox="1"/>
          <p:nvPr/>
        </p:nvSpPr>
        <p:spPr>
          <a:xfrm>
            <a:off x="548640" y="1664208"/>
            <a:ext cx="3657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De todos los reingresos que ocurrieron, qué proporción cae dentro de los K pacientes que el modelo marca como de mayor riesgo. K no es arbitrario: es la capacidad real de seguimiento del equipo.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4754880" y="1188720"/>
            <a:ext cx="4023360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4754880" y="1188720"/>
            <a:ext cx="4023360" cy="365760"/>
          </a:xfrm>
          <a:prstGeom prst="rect">
            <a:avLst/>
          </a:prstGeom>
          <a:solidFill>
            <a:srgbClr val="FFAB40"/>
          </a:solidFill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"/>
          <p:cNvSpPr txBox="1"/>
          <p:nvPr/>
        </p:nvSpPr>
        <p:spPr>
          <a:xfrm>
            <a:off x="4754880" y="118872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POR QUÉ NO EXACTITUD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 txBox="1"/>
          <p:nvPr/>
        </p:nvSpPr>
        <p:spPr>
          <a:xfrm>
            <a:off x="4937760" y="1664208"/>
            <a:ext cx="3657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Con 11,16 % de positivos, un clasificador que diga «nadie reingresa» acierta el 88,84 % y no sirve para nada. Métrica secundaria: AUCPR de al menos 1,5 veces la prevalencia.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 txBox="1"/>
          <p:nvPr/>
        </p:nvSpPr>
        <p:spPr>
          <a:xfrm>
            <a:off x="365760" y="269748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Los tres baselines que el modelo deberá superar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365760" y="3017520"/>
            <a:ext cx="2651760" cy="566928"/>
          </a:xfrm>
          <a:prstGeom prst="rect">
            <a:avLst/>
          </a:prstGeom>
          <a:solidFill>
            <a:srgbClr val="EEEEEE"/>
          </a:solidFill>
          <a:ln cap="flat" cmpd="sng" w="12700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"/>
          <p:cNvSpPr txBox="1"/>
          <p:nvPr/>
        </p:nvSpPr>
        <p:spPr>
          <a:xfrm>
            <a:off x="502920" y="3017520"/>
            <a:ext cx="502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AB40"/>
                </a:solidFill>
                <a:latin typeface="Arial"/>
                <a:ea typeface="Arial"/>
                <a:cs typeface="Arial"/>
                <a:sym typeface="Arial"/>
              </a:rPr>
              <a:t>B0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 txBox="1"/>
          <p:nvPr/>
        </p:nvSpPr>
        <p:spPr>
          <a:xfrm>
            <a:off x="1024128" y="3017520"/>
            <a:ext cx="1874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Probabilidad constante igual a la prevalencia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3200400" y="3017520"/>
            <a:ext cx="2651760" cy="566928"/>
          </a:xfrm>
          <a:prstGeom prst="rect">
            <a:avLst/>
          </a:prstGeom>
          <a:solidFill>
            <a:srgbClr val="EEEEEE"/>
          </a:solidFill>
          <a:ln cap="flat" cmpd="sng" w="12700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"/>
          <p:cNvSpPr txBox="1"/>
          <p:nvPr/>
        </p:nvSpPr>
        <p:spPr>
          <a:xfrm>
            <a:off x="3337560" y="3017520"/>
            <a:ext cx="502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AB40"/>
                </a:solidFill>
                <a:latin typeface="Arial"/>
                <a:ea typeface="Arial"/>
                <a:cs typeface="Arial"/>
                <a:sym typeface="Arial"/>
              </a:rPr>
              <a:t>B1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 txBox="1"/>
          <p:nvPr/>
        </p:nvSpPr>
        <p:spPr>
          <a:xfrm>
            <a:off x="3858768" y="3017520"/>
            <a:ext cx="1874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Regresión logística regularizada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6035040" y="3017520"/>
            <a:ext cx="2651760" cy="566928"/>
          </a:xfrm>
          <a:prstGeom prst="rect">
            <a:avLst/>
          </a:prstGeom>
          <a:solidFill>
            <a:srgbClr val="EEEEEE"/>
          </a:solidFill>
          <a:ln cap="flat" cmpd="sng" w="12700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"/>
          <p:cNvSpPr txBox="1"/>
          <p:nvPr/>
        </p:nvSpPr>
        <p:spPr>
          <a:xfrm>
            <a:off x="6172200" y="3017520"/>
            <a:ext cx="502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AB40"/>
                </a:solidFill>
                <a:latin typeface="Arial"/>
                <a:ea typeface="Arial"/>
                <a:cs typeface="Arial"/>
                <a:sym typeface="Arial"/>
              </a:rPr>
              <a:t>B2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 txBox="1"/>
          <p:nvPr/>
        </p:nvSpPr>
        <p:spPr>
          <a:xfrm>
            <a:off x="6693408" y="3017520"/>
            <a:ext cx="1874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Regla clínica simple por hospitalizaciones previas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 txBox="1"/>
          <p:nvPr/>
        </p:nvSpPr>
        <p:spPr>
          <a:xfrm>
            <a:off x="365760" y="37490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Criterio declarado: superar en al menos 10 % relativo el Recall@K del mejor baseline. La señal existe — el reingreso pasa de 8,56 % sin ingresos previos a 31,24 % con cuatro o más. El modelo se entrena y se mide en P2.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"/>
          <p:cNvSpPr txBox="1"/>
          <p:nvPr/>
        </p:nvSpPr>
        <p:spPr>
          <a:xfrm>
            <a:off x="365760" y="109728"/>
            <a:ext cx="5120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Reingreso hospitalario evitable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 txBox="1"/>
          <p:nvPr/>
        </p:nvSpPr>
        <p:spPr>
          <a:xfrm>
            <a:off x="5486400" y="109728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Grupo 2 · UTEC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4" name="Google Shape;244;p11"/>
          <p:cNvCxnSpPr/>
          <p:nvPr/>
        </p:nvCxnSpPr>
        <p:spPr>
          <a:xfrm>
            <a:off x="365760" y="347472"/>
            <a:ext cx="8412480" cy="0"/>
          </a:xfrm>
          <a:prstGeom prst="straightConnector1">
            <a:avLst/>
          </a:prstGeom>
          <a:noFill/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5" name="Google Shape;245;p11"/>
          <p:cNvCxnSpPr/>
          <p:nvPr/>
        </p:nvCxnSpPr>
        <p:spPr>
          <a:xfrm>
            <a:off x="365760" y="4828032"/>
            <a:ext cx="8412480" cy="0"/>
          </a:xfrm>
          <a:prstGeom prst="straightConnector1">
            <a:avLst/>
          </a:prstGeom>
          <a:noFill/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6" name="Google Shape;246;p11"/>
          <p:cNvSpPr txBox="1"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El equipo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9425740" y="566916"/>
            <a:ext cx="1143000" cy="4206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7890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1"/>
          <p:cNvSpPr txBox="1"/>
          <p:nvPr/>
        </p:nvSpPr>
        <p:spPr>
          <a:xfrm>
            <a:off x="9425740" y="566928"/>
            <a:ext cx="1143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KEVIN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1:00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1417320" y="1188720"/>
            <a:ext cx="548640" cy="548640"/>
          </a:xfrm>
          <a:prstGeom prst="ellipse">
            <a:avLst/>
          </a:prstGeom>
          <a:solidFill>
            <a:srgbClr val="FFAB40"/>
          </a:solidFill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1"/>
          <p:cNvSpPr txBox="1"/>
          <p:nvPr/>
        </p:nvSpPr>
        <p:spPr>
          <a:xfrm>
            <a:off x="365760" y="1874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Daniel Alarcón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868680" y="2212848"/>
            <a:ext cx="1645920" cy="310896"/>
          </a:xfrm>
          <a:prstGeom prst="rect">
            <a:avLst/>
          </a:prstGeom>
          <a:solidFill>
            <a:srgbClr val="FFAB40"/>
          </a:solidFill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"/>
          <p:cNvSpPr txBox="1"/>
          <p:nvPr/>
        </p:nvSpPr>
        <p:spPr>
          <a:xfrm>
            <a:off x="868680" y="2212848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Product Lead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 txBox="1"/>
          <p:nvPr/>
        </p:nvSpPr>
        <p:spPr>
          <a:xfrm>
            <a:off x="594360" y="2697480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Encuadre del problema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Relación con stakeholders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Análisis regulatorio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4251960" y="1188720"/>
            <a:ext cx="548640" cy="548640"/>
          </a:xfrm>
          <a:prstGeom prst="ellipse">
            <a:avLst/>
          </a:prstGeom>
          <a:solidFill>
            <a:srgbClr val="FFAB40"/>
          </a:solidFill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"/>
          <p:cNvSpPr txBox="1"/>
          <p:nvPr/>
        </p:nvSpPr>
        <p:spPr>
          <a:xfrm>
            <a:off x="3200400" y="1874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Eduardo Vergaray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3703320" y="2212848"/>
            <a:ext cx="1645920" cy="310896"/>
          </a:xfrm>
          <a:prstGeom prst="rect">
            <a:avLst/>
          </a:prstGeom>
          <a:solidFill>
            <a:srgbClr val="FFAB40"/>
          </a:solidFill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"/>
          <p:cNvSpPr txBox="1"/>
          <p:nvPr/>
        </p:nvSpPr>
        <p:spPr>
          <a:xfrm>
            <a:off x="3703320" y="2212848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Data Scientist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 txBox="1"/>
          <p:nvPr/>
        </p:nvSpPr>
        <p:spPr>
          <a:xfrm>
            <a:off x="3429000" y="2697480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Análisis exploratorio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Ingeniería de datos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Reproducibilidad en GitHub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7086600" y="1188720"/>
            <a:ext cx="548640" cy="548640"/>
          </a:xfrm>
          <a:prstGeom prst="ellipse">
            <a:avLst/>
          </a:prstGeom>
          <a:solidFill>
            <a:srgbClr val="FFAB40"/>
          </a:solidFill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"/>
          <p:cNvSpPr txBox="1"/>
          <p:nvPr/>
        </p:nvSpPr>
        <p:spPr>
          <a:xfrm>
            <a:off x="6035040" y="1874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Kevin Luyo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6537960" y="2212848"/>
            <a:ext cx="1645920" cy="310896"/>
          </a:xfrm>
          <a:prstGeom prst="rect">
            <a:avLst/>
          </a:prstGeom>
          <a:solidFill>
            <a:srgbClr val="FFAB40"/>
          </a:solidFill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"/>
          <p:cNvSpPr txBox="1"/>
          <p:nvPr/>
        </p:nvSpPr>
        <p:spPr>
          <a:xfrm>
            <a:off x="6537960" y="2212848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ML Engineer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 txBox="1"/>
          <p:nvPr/>
        </p:nvSpPr>
        <p:spPr>
          <a:xfrm>
            <a:off x="6263640" y="2697480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Modelado y validación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GroupKFold sin fuga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Trazabilidad con MLflow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365760" y="3794760"/>
            <a:ext cx="8412480" cy="502920"/>
          </a:xfrm>
          <a:prstGeom prst="rect">
            <a:avLst/>
          </a:prstGeom>
          <a:solidFill>
            <a:srgbClr val="EEEEEE"/>
          </a:solidFill>
          <a:ln cap="flat" cmpd="sng" w="12700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"/>
          <p:cNvSpPr txBox="1"/>
          <p:nvPr/>
        </p:nvSpPr>
        <p:spPr>
          <a:xfrm>
            <a:off x="548640" y="379476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Stack: Python, pandas y scikit-learn sobre Parquet · DVC para versionar datos · MLflow para experimentos · todo reproducible desde el repositorio público.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2"/>
          <p:cNvSpPr txBox="1"/>
          <p:nvPr/>
        </p:nvSpPr>
        <p:spPr>
          <a:xfrm>
            <a:off x="365760" y="109728"/>
            <a:ext cx="5120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Reingreso hospitalario evitable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 txBox="1"/>
          <p:nvPr/>
        </p:nvSpPr>
        <p:spPr>
          <a:xfrm>
            <a:off x="5486400" y="109728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Grupo 2 · UTEC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3" name="Google Shape;273;p12"/>
          <p:cNvCxnSpPr/>
          <p:nvPr/>
        </p:nvCxnSpPr>
        <p:spPr>
          <a:xfrm>
            <a:off x="365760" y="347472"/>
            <a:ext cx="8412480" cy="0"/>
          </a:xfrm>
          <a:prstGeom prst="straightConnector1">
            <a:avLst/>
          </a:prstGeom>
          <a:noFill/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4" name="Google Shape;274;p12"/>
          <p:cNvCxnSpPr/>
          <p:nvPr/>
        </p:nvCxnSpPr>
        <p:spPr>
          <a:xfrm>
            <a:off x="365760" y="4828032"/>
            <a:ext cx="8412480" cy="0"/>
          </a:xfrm>
          <a:prstGeom prst="straightConnector1">
            <a:avLst/>
          </a:prstGeom>
          <a:noFill/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5" name="Google Shape;275;p12"/>
          <p:cNvSpPr txBox="1"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212121"/>
                </a:solidFill>
              </a:rPr>
              <a:t>Siguientes pasos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9847315" y="589791"/>
            <a:ext cx="1143000" cy="4206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7890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2"/>
          <p:cNvSpPr txBox="1"/>
          <p:nvPr/>
        </p:nvSpPr>
        <p:spPr>
          <a:xfrm>
            <a:off x="9805690" y="589791"/>
            <a:ext cx="1143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DANIEL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40 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 txBox="1"/>
          <p:nvPr/>
        </p:nvSpPr>
        <p:spPr>
          <a:xfrm>
            <a:off x="365760" y="114300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Entregamos una guía profesional que un hospital puede ejecutar, con cuatro carriles paralelos.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365760" y="1627632"/>
            <a:ext cx="841248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2"/>
          <p:cNvSpPr/>
          <p:nvPr/>
        </p:nvSpPr>
        <p:spPr>
          <a:xfrm>
            <a:off x="457200" y="1719072"/>
            <a:ext cx="1600200" cy="347472"/>
          </a:xfrm>
          <a:prstGeom prst="rect">
            <a:avLst/>
          </a:prstGeom>
          <a:solidFill>
            <a:srgbClr val="FFAB40"/>
          </a:solidFill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2"/>
          <p:cNvSpPr txBox="1"/>
          <p:nvPr/>
        </p:nvSpPr>
        <p:spPr>
          <a:xfrm>
            <a:off x="457200" y="1719072"/>
            <a:ext cx="1600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REGULATORIO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 txBox="1"/>
          <p:nvPr/>
        </p:nvSpPr>
        <p:spPr>
          <a:xfrm>
            <a:off x="2194560" y="1627632"/>
            <a:ext cx="51206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Protocolo de comité de ética, matriz de privacidad y modelo de convenio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 txBox="1"/>
          <p:nvPr/>
        </p:nvSpPr>
        <p:spPr>
          <a:xfrm>
            <a:off x="7406640" y="1627632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8–12 meses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/>
          <p:nvPr/>
        </p:nvSpPr>
        <p:spPr>
          <a:xfrm>
            <a:off x="365760" y="2249424"/>
            <a:ext cx="8412480" cy="530352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2"/>
          <p:cNvSpPr/>
          <p:nvPr/>
        </p:nvSpPr>
        <p:spPr>
          <a:xfrm>
            <a:off x="457200" y="2340864"/>
            <a:ext cx="1600200" cy="347472"/>
          </a:xfrm>
          <a:prstGeom prst="rect">
            <a:avLst/>
          </a:prstGeom>
          <a:solidFill>
            <a:srgbClr val="FFAB40"/>
          </a:solidFill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2"/>
          <p:cNvSpPr txBox="1"/>
          <p:nvPr/>
        </p:nvSpPr>
        <p:spPr>
          <a:xfrm>
            <a:off x="457200" y="2340864"/>
            <a:ext cx="1600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TÉCNICO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 txBox="1"/>
          <p:nvPr/>
        </p:nvSpPr>
        <p:spPr>
          <a:xfrm>
            <a:off x="2194560" y="2249424"/>
            <a:ext cx="51206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Especificaciones de integración con historia clínica y API de ingesta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 txBox="1"/>
          <p:nvPr/>
        </p:nvSpPr>
        <p:spPr>
          <a:xfrm>
            <a:off x="7406640" y="2249424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Documentado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2"/>
          <p:cNvSpPr/>
          <p:nvPr/>
        </p:nvSpPr>
        <p:spPr>
          <a:xfrm>
            <a:off x="365760" y="2871216"/>
            <a:ext cx="841248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2"/>
          <p:cNvSpPr/>
          <p:nvPr/>
        </p:nvSpPr>
        <p:spPr>
          <a:xfrm>
            <a:off x="457200" y="2962656"/>
            <a:ext cx="1600200" cy="347472"/>
          </a:xfrm>
          <a:prstGeom prst="rect">
            <a:avLst/>
          </a:prstGeom>
          <a:solidFill>
            <a:srgbClr val="FFAB40"/>
          </a:solidFill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2"/>
          <p:cNvSpPr txBox="1"/>
          <p:nvPr/>
        </p:nvSpPr>
        <p:spPr>
          <a:xfrm>
            <a:off x="457200" y="2962656"/>
            <a:ext cx="1600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VALIDACIÓN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 txBox="1"/>
          <p:nvPr/>
        </p:nvSpPr>
        <p:spPr>
          <a:xfrm>
            <a:off x="2194560" y="2871216"/>
            <a:ext cx="51206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MVP sobre datos anonimizados reales y recolección de feedback clínico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 txBox="1"/>
          <p:nvPr/>
        </p:nvSpPr>
        <p:spPr>
          <a:xfrm>
            <a:off x="7406640" y="2871216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Requiere convenio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365760" y="3493008"/>
            <a:ext cx="8412480" cy="530352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2"/>
          <p:cNvSpPr/>
          <p:nvPr/>
        </p:nvSpPr>
        <p:spPr>
          <a:xfrm>
            <a:off x="457200" y="3584448"/>
            <a:ext cx="1600200" cy="347472"/>
          </a:xfrm>
          <a:prstGeom prst="rect">
            <a:avLst/>
          </a:prstGeom>
          <a:solidFill>
            <a:srgbClr val="FFAB40"/>
          </a:solidFill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2"/>
          <p:cNvSpPr txBox="1"/>
          <p:nvPr/>
        </p:nvSpPr>
        <p:spPr>
          <a:xfrm>
            <a:off x="457200" y="3584448"/>
            <a:ext cx="1600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ESCALA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2"/>
          <p:cNvSpPr txBox="1"/>
          <p:nvPr/>
        </p:nvSpPr>
        <p:spPr>
          <a:xfrm>
            <a:off x="2194560" y="3493008"/>
            <a:ext cx="51206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Plan comercial, modelo financiero y réplica en</a:t>
            </a:r>
            <a:r>
              <a:rPr lang="en-US" sz="1050">
                <a:solidFill>
                  <a:srgbClr val="212121"/>
                </a:solidFill>
              </a:rPr>
              <a:t> una institución de salud.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2"/>
          <p:cNvSpPr txBox="1"/>
          <p:nvPr/>
        </p:nvSpPr>
        <p:spPr>
          <a:xfrm>
            <a:off x="7406640" y="3493008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</a:rPr>
              <a:t>Diseñado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octor examining patient's blood pressure, at hospital (proporcionada por Getty Images)" id="304" name="Google Shape;304;g3fb7e1849ab_7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2652" y="701601"/>
            <a:ext cx="4381000" cy="328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g3fb7e1849ab_7_4"/>
          <p:cNvSpPr txBox="1"/>
          <p:nvPr/>
        </p:nvSpPr>
        <p:spPr>
          <a:xfrm>
            <a:off x="646407" y="1714775"/>
            <a:ext cx="2203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212121"/>
                </a:solidFill>
              </a:rPr>
              <a:t>Gracias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g3fb7e1849ab_7_4"/>
          <p:cNvSpPr txBox="1"/>
          <p:nvPr/>
        </p:nvSpPr>
        <p:spPr>
          <a:xfrm>
            <a:off x="365760" y="109728"/>
            <a:ext cx="5120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Reingreso hospitalario evitable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g3fb7e1849ab_7_4"/>
          <p:cNvSpPr txBox="1"/>
          <p:nvPr/>
        </p:nvSpPr>
        <p:spPr>
          <a:xfrm>
            <a:off x="5486400" y="109728"/>
            <a:ext cx="3291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Grupo 2 · UTEC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8" name="Google Shape;308;g3fb7e1849ab_7_4"/>
          <p:cNvCxnSpPr/>
          <p:nvPr/>
        </p:nvCxnSpPr>
        <p:spPr>
          <a:xfrm>
            <a:off x="365760" y="347472"/>
            <a:ext cx="8412600" cy="0"/>
          </a:xfrm>
          <a:prstGeom prst="straightConnector1">
            <a:avLst/>
          </a:prstGeom>
          <a:noFill/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2026-09-16T17:16:33Z</dcterms:created>
  <dc:creator>Grupo 2 — UTEC</dc:creator>
</cp:coreProperties>
</file>